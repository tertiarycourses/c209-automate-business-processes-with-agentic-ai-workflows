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8" r:id="rId19"/>
    <p:sldId id="270" r:id="rId21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5" r:id="rId136"/>
    <p:sldId id="386" r:id="rId1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9" Type="http://schemas.openxmlformats.org/officeDocument/2006/relationships/slide" Target="slides/slide10.xml"/><Relationship Id="rId21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1.xml"/><Relationship Id="rId86" Type="http://schemas.openxmlformats.org/officeDocument/2006/relationships/slide" Target="slides/slide72.xml"/><Relationship Id="rId87" Type="http://schemas.openxmlformats.org/officeDocument/2006/relationships/slide" Target="slides/slide73.xml"/><Relationship Id="rId88" Type="http://schemas.openxmlformats.org/officeDocument/2006/relationships/slide" Target="slides/slide74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91" Type="http://schemas.openxmlformats.org/officeDocument/2006/relationships/slide" Target="slides/slide77.xml"/><Relationship Id="rId92" Type="http://schemas.openxmlformats.org/officeDocument/2006/relationships/slide" Target="slides/slide78.xml"/><Relationship Id="rId93" Type="http://schemas.openxmlformats.org/officeDocument/2006/relationships/slide" Target="slides/slide79.xml"/><Relationship Id="rId94" Type="http://schemas.openxmlformats.org/officeDocument/2006/relationships/slide" Target="slides/slide80.xml"/><Relationship Id="rId95" Type="http://schemas.openxmlformats.org/officeDocument/2006/relationships/slide" Target="slides/slide81.xml"/><Relationship Id="rId96" Type="http://schemas.openxmlformats.org/officeDocument/2006/relationships/slide" Target="slides/slide82.xml"/><Relationship Id="rId97" Type="http://schemas.openxmlformats.org/officeDocument/2006/relationships/slide" Target="slides/slide83.xml"/><Relationship Id="rId98" Type="http://schemas.openxmlformats.org/officeDocument/2006/relationships/slide" Target="slides/slide84.xml"/><Relationship Id="rId99" Type="http://schemas.openxmlformats.org/officeDocument/2006/relationships/slide" Target="slides/slide85.xml"/><Relationship Id="rId100" Type="http://schemas.openxmlformats.org/officeDocument/2006/relationships/slide" Target="slides/slide86.xml"/><Relationship Id="rId101" Type="http://schemas.openxmlformats.org/officeDocument/2006/relationships/slide" Target="slides/slide87.xml"/><Relationship Id="rId102" Type="http://schemas.openxmlformats.org/officeDocument/2006/relationships/slide" Target="slides/slide88.xml"/><Relationship Id="rId103" Type="http://schemas.openxmlformats.org/officeDocument/2006/relationships/slide" Target="slides/slide89.xml"/><Relationship Id="rId104" Type="http://schemas.openxmlformats.org/officeDocument/2006/relationships/slide" Target="slides/slide90.xml"/><Relationship Id="rId105" Type="http://schemas.openxmlformats.org/officeDocument/2006/relationships/slide" Target="slides/slide91.xml"/><Relationship Id="rId106" Type="http://schemas.openxmlformats.org/officeDocument/2006/relationships/slide" Target="slides/slide92.xml"/><Relationship Id="rId107" Type="http://schemas.openxmlformats.org/officeDocument/2006/relationships/slide" Target="slides/slide93.xml"/><Relationship Id="rId108" Type="http://schemas.openxmlformats.org/officeDocument/2006/relationships/slide" Target="slides/slide94.xml"/><Relationship Id="rId109" Type="http://schemas.openxmlformats.org/officeDocument/2006/relationships/slide" Target="slides/slide95.xml"/><Relationship Id="rId110" Type="http://schemas.openxmlformats.org/officeDocument/2006/relationships/slide" Target="slides/slide96.xml"/><Relationship Id="rId111" Type="http://schemas.openxmlformats.org/officeDocument/2006/relationships/slide" Target="slides/slide97.xml"/><Relationship Id="rId112" Type="http://schemas.openxmlformats.org/officeDocument/2006/relationships/slide" Target="slides/slide98.xml"/><Relationship Id="rId114" Type="http://schemas.openxmlformats.org/officeDocument/2006/relationships/slide" Target="slides/slide99.xml"/><Relationship Id="rId115" Type="http://schemas.openxmlformats.org/officeDocument/2006/relationships/slide" Target="slides/slide100.xml"/><Relationship Id="rId116" Type="http://schemas.openxmlformats.org/officeDocument/2006/relationships/slide" Target="slides/slide101.xml"/><Relationship Id="rId117" Type="http://schemas.openxmlformats.org/officeDocument/2006/relationships/slide" Target="slides/slide102.xml"/><Relationship Id="rId118" Type="http://schemas.openxmlformats.org/officeDocument/2006/relationships/slide" Target="slides/slide103.xml"/><Relationship Id="rId119" Type="http://schemas.openxmlformats.org/officeDocument/2006/relationships/slide" Target="slides/slide104.xml"/><Relationship Id="rId120" Type="http://schemas.openxmlformats.org/officeDocument/2006/relationships/slide" Target="slides/slide105.xml"/><Relationship Id="rId121" Type="http://schemas.openxmlformats.org/officeDocument/2006/relationships/slide" Target="slides/slide106.xml"/><Relationship Id="rId122" Type="http://schemas.openxmlformats.org/officeDocument/2006/relationships/slide" Target="slides/slide107.xml"/><Relationship Id="rId123" Type="http://schemas.openxmlformats.org/officeDocument/2006/relationships/slide" Target="slides/slide108.xml"/><Relationship Id="rId124" Type="http://schemas.openxmlformats.org/officeDocument/2006/relationships/slide" Target="slides/slide109.xml"/><Relationship Id="rId125" Type="http://schemas.openxmlformats.org/officeDocument/2006/relationships/slide" Target="slides/slide110.xml"/><Relationship Id="rId126" Type="http://schemas.openxmlformats.org/officeDocument/2006/relationships/slide" Target="slides/slide111.xml"/><Relationship Id="rId127" Type="http://schemas.openxmlformats.org/officeDocument/2006/relationships/slide" Target="slides/slide112.xml"/><Relationship Id="rId128" Type="http://schemas.openxmlformats.org/officeDocument/2006/relationships/slide" Target="slides/slide113.xml"/><Relationship Id="rId129" Type="http://schemas.openxmlformats.org/officeDocument/2006/relationships/slide" Target="slides/slide114.xml"/><Relationship Id="rId130" Type="http://schemas.openxmlformats.org/officeDocument/2006/relationships/slide" Target="slides/slide115.xml"/><Relationship Id="rId131" Type="http://schemas.openxmlformats.org/officeDocument/2006/relationships/slide" Target="slides/slide116.xml"/><Relationship Id="rId132" Type="http://schemas.openxmlformats.org/officeDocument/2006/relationships/slide" Target="slides/slide117.xml"/><Relationship Id="rId133" Type="http://schemas.openxmlformats.org/officeDocument/2006/relationships/slide" Target="slides/slide118.xml"/><Relationship Id="rId136" Type="http://schemas.openxmlformats.org/officeDocument/2006/relationships/slide" Target="slides/slide119.xml"/><Relationship Id="rId137" Type="http://schemas.openxmlformats.org/officeDocument/2006/relationships/slide" Target="slides/slide1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pic>
        <p:nvPicPr>
          <p:cNvPr id="6" name="Picture 5" descr="n8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658368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NON-WSQ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Automate Business Processes with Agentic AI Workflows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C209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Non-WSQ commercial short course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Version v2.5  ·  17 October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— specialises in AI, automation and software engineering.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Courses on agentic AI, workflow automation (n8n) and app development.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Who you are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name, your organisation and your role.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starting point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experience with automation or AI tools — including none at 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pain point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One business process in your work you would most like to automate.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goal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What you want to be able to build by the end of this course.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Full attendance — attend both days to get the most from the course.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ms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282" y="1737360"/>
            <a:ext cx="8270955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932582" y="1724660"/>
            <a:ext cx="8296355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PORTAL ·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 to lms-tms.tertiaryinfotech.com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Enter your registered email and click Send OTP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Key in the one-time password from your inbox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this course and download the slides +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them open — you will refer to them throughout the labs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GET THE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Get the Course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Every lab ships a workflow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ready-made n8n workflow (.json) sits in each lab's folder under labs/.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Import it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 n8n: Workflows → Add workflow → the '...' menu → Import from File → pick the lab .json.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Re-select your credentials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After importing, re-select YOUR OWN credentials on every node showing a warning.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Nothing of yours is shared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Imported workflows reference credential NAMES, not secrets — no key travels in the file.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 — 2 Days, 7.5 hours/day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DAY 1 — n8n, AI Agents and Agentic Chatbots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Topic 1: Why agentic AI, and why workflow first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n8n fundamentals → Lab 1 — trigger, action and QR flyer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AI agent building blocks and webhooks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Lab 2 — Webhook and AI Agent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Timing: 9:30 am – 5:30 pm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DAY 2 — Human in the Loop and RAG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Topic 2: Agentic chatbot and human in the loop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Lab 3 — Chatbot webhook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Lab 4 — Human in the loop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Topic 3: RAG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Lab 5 — RAG customer care chatbot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Course recap and next steps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Timing: 9:30 am – 5:30 pm</a:t>
            </a:r>
            <a:r>
              <a:rPr sz="1300">
                <a:solidFill>
                  <a:srgbClr val="161B26"/>
                </a:solidFill>
                <a:latin typeface="Arial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Each day is 7.5 instructional hours, 9:30 am – 5:30 pm, with a 30-minute lunch break excluded from instructional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Five Connected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lab keeps the agent and changes one thing — the front door, the tools, the oversight, the knowledge.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1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form →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2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webhook + agent +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3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chatbot +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4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human approval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5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RAG over documents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154680"/>
            <a:ext cx="3349752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330098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33101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front door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703320"/>
            <a:ext cx="2947416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Form Trigger in Lab 1 becomes a Webhook in Labs 2–5 — the workflow behind it barely moves.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9600" y="3154680"/>
            <a:ext cx="3349752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02480" y="330098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2480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392" y="33101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The agent gains abilities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0768" y="3703320"/>
            <a:ext cx="2947416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2 adds tools, Lab 3 adds memory, Lab 5 adds retrieval over your own documents.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1960" y="3154680"/>
            <a:ext cx="3349752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44840" y="330098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4840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3752" y="33101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The oversight grows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3128" y="3703320"/>
            <a:ext cx="2947416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4 stops the workflow dead until a licensed person approves what the agent drafted.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By Lab 5 you have built the whole pattern: a front door, an agent, its tools, its guardrails and its knowledge.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Overview of n8n and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379476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Why agentic AI · Workflow first · Triggers &amp; actions · LLM agents · Webhooks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43434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Applied in Lab 1, 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 BRIEF HISTORY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Brief History of AI, 2023–2026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year moved the skill that matters — from the words you type to the system you build.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Prompt Engineering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74519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74519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Context Engineering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74519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74519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Harness Engineering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74519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74519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Agents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Wording the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ChatGPT goes mainstream. Results depend on how well you word the prompt.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0901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017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Curating the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017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Models call tools and MCP launches. Results depend on the documents, data and tools you supply.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078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194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Building the harness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Claude Code and Codex: systems that plan, act and check their own work in a loop.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255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7371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Agents at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371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Always-on agents work 24/7 — OpenClaw, Hermes Agent and agent teams take on whole jobs.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From wording one prompt → curating context → engineering the harness → AI agents that work around the clock.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GENERATIVE VS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Generative AI vs Agentic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difference is not how clever the model is — it is whether it can 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GENERATIVE AI — answers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 ask; it writes one answer.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No access to your systems, and no actions.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Quality depends on what you paste into the prompt.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Stops the moment the answer is produced.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Example: draft me an email to this customer.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AGENTIC AI — acts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Works toward a goal, not just one reply.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Calls tools: looks up data, calls APIs, writes records.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Holds a conversation with memory.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Continues until the goal is met.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Example: read the enquiry, check the CRM, reply and log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Generative AI produces content. Agentic AI decides and does — which is exactly why it needs governance.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AGENTIC AI VS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Agentic AI vs AI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AI agents are a special type of agentic AI system — the kind that never switches off.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Agentic AI — the broad category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Any AI system that pursues a goal over many steps: plans, acts through tools, checks the result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Usually started by a person or a trigger, and stops when the task is done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Built as a workflow with AI steps, or around an LLM loop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Includes the orchestration, guardrails and human approvals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Examples: a Claude Code or Codex session; an n8n workflow with AI steps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AI Agents — always-on agentic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 special type of agentic AI system that exists 24/7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Usually installed in the cloud, so it serves all the time — no laptop needs to be open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Waits for events — messages, emails, webhooks, schedules — and acts on them around the clock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Keeps its memory across conversations and days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Examples: OpenClaw, Hermes Agent, an n8n agent on a cloud instance behind a webhook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Every AI agent is agentic AI, but not every agentic AI is an AI agent — an AI agent is always on, serving 24/7 from the cloud.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WORKFLOW FIRST VS AGENT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Workflow First vs Agent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Workflow first evolves rule-based (RPA) automation: the workflow owns the path, and its steps can be AI or AI agents, as in n8n.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28600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874519"/>
            <a:ext cx="416052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91256" y="18745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Workflow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874519"/>
            <a:ext cx="418795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776" y="18745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Agent 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31719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317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Who decides the path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2331719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91256" y="23317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workflow — steps may be AI nodes or AI Agent nodes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331719"/>
            <a:ext cx="41879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6" y="23317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decides the steps and tools at run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88919"/>
            <a:ext cx="22860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889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Behaviour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2788919"/>
            <a:ext cx="41605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91256" y="27889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Deterministic — same input, same path, every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788919"/>
            <a:ext cx="418795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6" y="27889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Probabilistic — the path can change between runs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46119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461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Efficiency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3246119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91256" y="32461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More effort to design every branch up front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246119"/>
            <a:ext cx="41879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51776" y="32461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Efficient — one instruction replaces many hand-built branches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3319"/>
            <a:ext cx="22860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33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Reliability &amp; testing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3703319"/>
            <a:ext cx="41605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91256" y="37033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Easy to test, debug and certify step by step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703319"/>
            <a:ext cx="418795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51776" y="37033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Harder to test; edge cases surface in production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60519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605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Cost &amp; speed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4160519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91256" y="41605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LLM call only where needed — cheap and fast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160519"/>
            <a:ext cx="41879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51776" y="41605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LLM call at every step — more tokens, more latency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617719"/>
            <a:ext cx="22860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617719"/>
            <a:ext cx="20299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63240" y="4617719"/>
            <a:ext cx="41605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91256" y="4617719"/>
            <a:ext cx="3904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Repeatable, regulated, high-volume processes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4617719"/>
            <a:ext cx="418795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51776" y="4617719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Open-ended tasks with unpredictable inputs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39496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Source: n8n, In The Loop 2026 — opening keynote and product direction (youtube.com/watch?v=KQRe5UurLQ0)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Workflow first is more deterministic; agent first is more efficient. Companies make as much deterministic as they can.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THE MODERN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Trend: AI-Assisted Workflow Creation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AI-powered coding has flipped the trade-off — the agent's efficiency goes into BUILDING the workflow, not running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Describe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process in plain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74519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74519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n8n Assistant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or Claude Code / Codex drafts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74519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74519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You review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test and approve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74519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74519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Workflow runs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deterministic and logged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1671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74519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74519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AI and agent nodes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where judgement is needed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Companies want determinism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Reliability, compliance and audit push businesses to make as much of a process deterministic as possible.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AI coding made it cheap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n8n Assistant, Claude Code and Codex are AI agents themselves — they make designing, building and changing workflows fast and cheap.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The best of both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AI agent BUILDS the workflow; a deterministic workflow RUNS the process, with AI and AI Agent nodes where judgement is needed.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trend: AI-assisted workflow creation — the AI builds the workflow, and the workflow runs the business process.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COMPLEXITY VS CUSTOMISATION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AI Agent Platforms Sit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Three tiers — and AI now helps build at every one of them. This course teaches the middle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349752" cy="3246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020823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082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029967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No-code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78023"/>
            <a:ext cx="2947416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HOW YOU BUILD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Drag and drop in a fully visual builder.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F6FEB"/>
                </a:solidFill>
                <a:latin typeface="Arial"/>
              </a:rPr>
              <a:t>CUSTOMISATION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Lowest. Fastest route to a working agent, least control over the internals.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74519"/>
            <a:ext cx="3349752" cy="3246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2020823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202082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2029967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Low-code  ·  n8n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478023"/>
            <a:ext cx="2947416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HOW YOU BUILD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AI-assisted: n8n Assistant, Claude Code or Codex drafts the workflow on a visual canvas.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CODE WHEN NEEDED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 JavaScript or Python in a Code node where a built-in node is not enough.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CUSTOMISATION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High. 400+ integrations, self-host or cloud. This course's platform.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74519"/>
            <a:ext cx="3349752" cy="3246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2020823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202082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2029967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Full-code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478023"/>
            <a:ext cx="2947416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HOW YOU BUILD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AI generates the code — Claude Code or Codex write it, instead of coding manually.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7C3AED"/>
                </a:solidFill>
                <a:latin typeface="Arial"/>
              </a:rPr>
              <a:t>CUSTOMISATION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Highest — the most customisable tier. SDKs and frameworks such as LangChain, with real engineering effort to test and run.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77240" y="5230368"/>
            <a:ext cx="10634472" cy="365760"/>
          </a:xfrm>
          <a:prstGeom prst="rightArrow">
            <a:avLst/>
          </a:prstGeom>
          <a:solidFill>
            <a:srgbClr val="F5F8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230368"/>
            <a:ext cx="9875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B6372"/>
                </a:solidFill>
                <a:latin typeface="Arial"/>
              </a:rPr>
              <a:t>Less control, less effort   ·   more customisation, more engineering effort  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drafts the workflow in low-code and writes the code in full-code. n8n: analysts build it, engineers extend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WHY ORGANISATIONS ADOPT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Business Value of Workflow-First Agentic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modern view: what a business gains when AI builds the workflow and the workflow runs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Reliable and predictable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same input follows the same path every time, so the process can be tested and trusted like software.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Secure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step holds only the data and credentials it needs; risky actions wait at an approval gate.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Auditable end to 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run is logged node by node — you can explain, replay and correct any decision.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9639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Lower running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Deterministic steps cost nothing in tokens; the LLM is called only where judgement is needed.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9639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Faster to build and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Claude Code and Codex draft the workflow in minutes; your team reviews, tests and owns 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9639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Scale around the clock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Triggers respond in real time, 24/7 — ten times the volume costs compute, not ten more hires.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where judgement is needed, workflow everywhere else — reliability you can audit, at a cost you can predict.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Agentic Automation Is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same pattern — trigger, agent, tools, oversight — recurs across every function.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Customer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Answer enquiries from your own documents, capture leads, and escalate what needs a person.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Finance &amp; accounting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Invoice processing, bank reconciliation, accounts-payable routing and exception handling.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Risk &amp;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Screen applications, flag anomalies, and route sensitive cases for human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9639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HR &amp; people 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Onboarding, leave applications, policy questions and approval chains.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9639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Sales &amp; marketing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Lead qualification, follow-up sequencing, CRM enrichment and content drafting.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9639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Order processing, status notifications, document generation and reporting.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Every one of these is a front door, an agent, some tools and a decision about where the human belongs.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TOPIC 1 · AI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5 Principles of AI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Agents act on your behalf. These five controls keep what they can see and do safe, reviewable and accountable.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965960" cy="3657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31620" y="2075687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31620" y="20756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51759"/>
            <a:ext cx="1746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6FEB"/>
                </a:solidFill>
                <a:latin typeface="Arial"/>
              </a:rPr>
              <a:t>Data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4611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WHAT AI CAN SEE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611879"/>
            <a:ext cx="16367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Classify your data — public, internal, confidential — and decide exactly which data the AI may access.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1874519"/>
            <a:ext cx="1965960" cy="3657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98748" y="2075687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8748" y="20756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2651759"/>
            <a:ext cx="1746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B981"/>
                </a:solidFill>
                <a:latin typeface="Arial"/>
              </a:rPr>
              <a:t>Permission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24611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WHAT AI CAN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611879"/>
            <a:ext cx="16367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Grant only the rights needed — read, write, edit, delete. Ask before anything destructive.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11496" y="1874519"/>
            <a:ext cx="1965960" cy="3657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65876" y="2075687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65876" y="20756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2651759"/>
            <a:ext cx="1746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7C3AED"/>
                </a:solidFill>
                <a:latin typeface="Arial"/>
              </a:rPr>
              <a:t>Human in the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324611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WHO APPROVES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3611879"/>
            <a:ext cx="16367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person reviews and approves high-impact actions — payments, deletions, customer emails.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78624" y="1874519"/>
            <a:ext cx="1965960" cy="3657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3004" y="2075687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3004" y="20756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2651759"/>
            <a:ext cx="1746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Arial"/>
              </a:rPr>
              <a:t>Traceability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8352" y="324611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WHAT HAPPENED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6" y="3611879"/>
            <a:ext cx="16367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Log every prompt, tool call and change so actions can be audited, explained and rolled back.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45752" y="1874519"/>
            <a:ext cx="1965960" cy="3657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00132" y="2075687"/>
            <a:ext cx="457200" cy="457200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00132" y="20756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2651759"/>
            <a:ext cx="1746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62F2F"/>
                </a:solidFill>
                <a:latin typeface="Arial"/>
              </a:rPr>
              <a:t>Right-Sized Models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3246119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NOT THE MOST POWERFUL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0344" y="3611879"/>
            <a:ext cx="16367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smallest model that does the job carries less autonomy and less risk than the most powerful one.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 n8n: scoped credentials per node, approval gates (Send and Wait), the Executions log, and a small model per AI step.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TOPIC 1 · AI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Workflow First vs Agent First — AI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fixed path limits the blast radius: a manipulated AI step cannot reach tools that are not wired to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286000" cy="512064"/>
          </a:xfrm>
          <a:prstGeom prst="rect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Principle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874519"/>
            <a:ext cx="4160520" cy="512064"/>
          </a:xfrm>
          <a:prstGeom prst="rect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91256" y="1874519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Workflow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874519"/>
            <a:ext cx="4187952" cy="512064"/>
          </a:xfrm>
          <a:prstGeom prst="rect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776" y="1874519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Agent 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86583"/>
            <a:ext cx="2286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86583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Data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2386583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91256" y="2386583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node sees only the fields wired into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386583"/>
            <a:ext cx="41879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6" y="2386583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can reach any data its tools expose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98647"/>
            <a:ext cx="2286000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98647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Permission control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2898647"/>
            <a:ext cx="4160520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91256" y="2898647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credential is scoped to one node and one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898647"/>
            <a:ext cx="4187952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6" y="2898647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holds every tool's rights at once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0711"/>
            <a:ext cx="2286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0711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Human in the loop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3410711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91256" y="3410711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approval gate sits at a fixed, designed step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410711"/>
            <a:ext cx="41879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51776" y="3410711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Depends on the agent choosing to ask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22775"/>
            <a:ext cx="2286000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22775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Traceability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3922775"/>
            <a:ext cx="4160520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91256" y="3922775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run is logged node by node in Executions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922775"/>
            <a:ext cx="4187952" cy="512064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51776" y="3922775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Reasoning varies run to run and is harder to explain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434839"/>
            <a:ext cx="2286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434839"/>
            <a:ext cx="20299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Right-sized models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4434839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91256" y="4434839"/>
            <a:ext cx="390448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small model for each narrow AI step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434839"/>
            <a:ext cx="41879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51776" y="4434839"/>
            <a:ext cx="3931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One capable model with broad autonomy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path is fixed, so every control is designed in rather than hoped for — that is why regulated processes stay workflow first.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WHAT IS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Is n8n?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workflow-first agentic AI platform: the workflow owns the path, and AI and AI Agent nodes sit inside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Build visually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Drag nodes onto a canvas and wire them together. 400+ app integrations, plus HTTP and Code nodes when no integration exists.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Run anywhere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Free cloud trial at n8n.io, or self-host with Docker. Webhooks, schedules and chat triggers work the same in both.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AI-native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AI Agent and LangChain nodes are built in — attach any LLM (Gemini, OpenAI, Claude), memory, tools and vector stores.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n8n is workflow-first agentic AI — deterministic workflows with AI and agents built in, on one canvas.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WHAT IS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Every Workflow Is the Same Shape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Trigger first, then actions in order, with data flowing left to right. Only the nodes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what starts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do the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do more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reply, store or notify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One trigger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workflow has exactly one entry point. Change the trigger and you have a different workflow — the actions may not change at all.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Actions are ordered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action runs after the one before it, and can read the output of every node that ran before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Data flows as 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node passes a list of JSON items to the next — the same structure in every lab of this course.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Trigger, actions, output. Learn this once in Lab 1 and every later lab is a variation.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TRAINING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n8n Training Accounts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learner signs in to n8n with ONE assigned account. Use only the account your trainer gives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731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1874519"/>
            <a:ext cx="457200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36776" y="1874519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Account (email)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874519"/>
            <a:ext cx="731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8776" y="187451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0" y="1874519"/>
            <a:ext cx="459943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0296" y="1874519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Account (email)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50007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50007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2350007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36776" y="2350007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n8n18oct1@tertiaryinfotech.com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350007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8776" y="2350007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2350007"/>
            <a:ext cx="4599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0296" y="2350007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n8n18oct7@tertiaryinfotech.com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25495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825495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08760" y="2825495"/>
            <a:ext cx="457200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36776" y="2825495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n8n18oct2@tertiaryinfotech.com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825495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8776" y="2825495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2825495"/>
            <a:ext cx="4599432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0296" y="2825495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n8n18oct8@tertiaryinfotech.com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300983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300983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08760" y="3300983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36776" y="3300983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n8n18oct3@tertiaryinfotech.com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3300983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08776" y="3300983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12280" y="3300983"/>
            <a:ext cx="4599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0296" y="3300983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n8n18oct9@tertiaryinfotech.com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776471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377647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08760" y="3776471"/>
            <a:ext cx="457200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36776" y="3776471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n8n18oct4@tertiaryinfotech.com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3776471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08776" y="377647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12280" y="3776471"/>
            <a:ext cx="4599432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0296" y="3776471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n8n18oct10@tertiaryinfotech.com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251959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25195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4251959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36776" y="4251959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n8n18oct5@tertiaryinfotech.com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4251959"/>
            <a:ext cx="731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08776" y="4251959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12280" y="4251959"/>
            <a:ext cx="45994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0296" y="4251959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n8n18oct11@tertiaryinfotech.com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4727447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" y="4727447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08760" y="4727447"/>
            <a:ext cx="457200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36776" y="4727447"/>
            <a:ext cx="43159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n8n18oct6@tertiaryinfotech.com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4727447"/>
            <a:ext cx="731520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08776" y="4727447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12280" y="4727447"/>
            <a:ext cx="4599432" cy="4754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0296" y="4727447"/>
            <a:ext cx="4343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n8n18oct12@tertiaryinfotech.com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Password: provided by your trainer in class   ·   Do not change the password or save real credentials in it.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SIGN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Sign In to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 to app.n8n.cloud/login — or open your own instance URL directly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Enter your assigned account email, e.g. n8n18oct5@tertiaryinfotech.com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Enter the password your trainer gives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your instance from the dashboard — a free 14-day trial, active through the 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land in n8n — open Assistant or Overview to start building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Your account is already set up — the name is your email prefix and onboarding is done. Do not change the password.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AI-ASSISTED WORKFLOW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n8n Assistant — Describe It, n8n Builds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271" y="1737360"/>
            <a:ext cx="8572977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81571" y="1724660"/>
            <a:ext cx="8598377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Open Assistant in the left sidebar and answer "What do you want to automate?". It plans, builds and tests a normal n8n workflow you can inspect, edit and publish. Assistant chats use the plan's monthly Assistant credits.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Demo: Build a Social Media Campaign Workflow with n8n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Give n8n Assistant one clear prompt — it plans and builds the workflow below, with a human approval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878177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69529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Form 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you enter a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28800"/>
            <a:ext cx="1878177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28800"/>
            <a:ext cx="169529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Research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Agent + web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28800"/>
            <a:ext cx="1878177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28800"/>
            <a:ext cx="169529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Draft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AI writes the copy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28800"/>
            <a:ext cx="1878177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28800"/>
            <a:ext cx="169529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Human in the loop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email approve / reject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28800"/>
            <a:ext cx="1878177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28800"/>
            <a:ext cx="1695297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Schedule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wait, then publish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2880360"/>
            <a:ext cx="6583680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990088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PROMPT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291840"/>
            <a:ext cx="621792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Create a workflow for a social media marketing campaign: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1. Start from a form where I enter a campaign topic.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2. Research the topic on the web and summarise 3 key points.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3. Draft a LinkedIn post under 150 words from the research.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4. Email me the draft and wait for my approval before posting.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5. If approved, schedule the post for 9am the next weekday;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    if rejected, log my feedback in a Google Sheet.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Gateway credits for the AI model. Ask me before publishing.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2880360"/>
            <a:ext cx="3822191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299008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THEN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310128"/>
            <a:ext cx="342900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•  </a:t>
            </a:r>
            <a:r>
              <a:rPr sz="1150">
                <a:solidFill>
                  <a:srgbClr val="161B26"/>
                </a:solidFill>
                <a:latin typeface="Arial"/>
              </a:rPr>
              <a:t>Review the plan before it builds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•  </a:t>
            </a:r>
            <a:r>
              <a:rPr sz="1150">
                <a:solidFill>
                  <a:srgbClr val="161B26"/>
                </a:solidFill>
                <a:latin typeface="Arial"/>
              </a:rPr>
              <a:t>Connect Gmail and the social account when it asks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•  </a:t>
            </a:r>
            <a:r>
              <a:rPr sz="1150">
                <a:solidFill>
                  <a:srgbClr val="161B26"/>
                </a:solidFill>
                <a:latin typeface="Arial"/>
              </a:rPr>
              <a:t>Test with a real topic and approve the draft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•  </a:t>
            </a:r>
            <a:r>
              <a:rPr sz="1150">
                <a:solidFill>
                  <a:srgbClr val="161B26"/>
                </a:solidFill>
                <a:latin typeface="Arial"/>
              </a:rPr>
              <a:t>Publish only when the run looks right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AI built it; the workflow runs it — and nothing is posted until a person approves the draft.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Trigger Nodes — What Is Allowed to Start a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trigger you choose is a statement about who or what may start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Manual 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Click Execute workflow. For building and testing, and for one-off jobs such as the Lab 5 ingestion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Schedule 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clock starts the workflow — an interval or a cron expression. Nightly reports, reminders and syncs.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Form 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n8n hosts a web form for you and each submission starts a run. This is Lab 1's front door.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03320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8587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Webhook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251960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external system calls a URL you expose. Your own website, app or CRM — Labs 2, 3, 4 and 5.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03320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8496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8587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Chat Trigger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251960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message in n8n's built-in chat window starts a run — the quickest way to talk to an agent while building.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03320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8496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8587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App &amp; Email Triggers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251960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On new Gmail, new Sheets row, new Drive file. React to changes in the apps you already use.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Pick the trigger by asking: who or what should be allowed to start this process?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Trigger Nodes on the n8n Canvas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97239"/>
            <a:ext cx="10332720" cy="37950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1884539"/>
            <a:ext cx="10358120" cy="3820442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n8n trigger nodes: Manual · Schedule · WhatsApp · Telegram · Gmail · Chat · Form · Webhook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Triggers Used in This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lab's trigger, and why that trigger is the right front door for that business process.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74320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Trigger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874519"/>
            <a:ext cx="292608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745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874519"/>
            <a:ext cx="49651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18745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Why it fits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317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317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Form Trigger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331719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23317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331719"/>
            <a:ext cx="4965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23317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visitor's event sign-up must start the workflow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889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889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Webhook — POST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788919"/>
            <a:ext cx="29260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8456" y="27889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Labs 2, 3, 4,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788919"/>
            <a:ext cx="496519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4536" y="27889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website sends JSON and waits for the agent's reply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461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461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Manual Trigger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246119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32461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5 ingestion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246119"/>
            <a:ext cx="4965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74536" y="32461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human loads the documents once, by hand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33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33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Schedule Trigger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3703319"/>
            <a:ext cx="29260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48456" y="37033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Not used in class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3703319"/>
            <a:ext cx="496519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4536" y="37033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Nightly reports and reminders — same pattern, a clock instead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605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60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Chat Trigger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4160519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48456" y="41605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Optional while building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4160519"/>
            <a:ext cx="4965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4536" y="41605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Talk to an agent without building a website first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Swap the front door and keep the workflow — the trigger is the only part that has to change.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Data-Processing Nodes — The Workhorses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Between the trigger and the output, these nodes shape, route and transform the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Edit Fields (Set)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Add, rename or reshape fields — the node you reach for first when the data is the wrong shape. Used in Labs 2 and 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901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9189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189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080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IF / 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017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Branch the workflow. IF gives a true and a false path; Switch gives one path per case. Lab 4 routes Approve vs Decline.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8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257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194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Let only the matching items continue and drop the rest of the list.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55430" y="195681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543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434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Merge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371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Combine two branches — append the rows, match them by key, or choose one side.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Split Out / Aggregate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Turn one item holding a list into many items — and back again.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0901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691890" y="38496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9189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080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1017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JavaScript or Python for the 5% a built-in node cannot do. Lab 3 uses it to normalise the chat message.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078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6257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Loop / Wait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194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Process items in batches, or pause a workflow for a period of time or an event.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7255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155430" y="384962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5543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9434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HTTP Request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371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Call any API on the internet — the universal escape hatch when no integration exists.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Most workflows are: trigger → reshape (Set) → decide (IF) → act (app node). Reach for Code last.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Data-Processing Nodes on the Canvas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key-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8049"/>
            <a:ext cx="10332720" cy="27334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2415349"/>
            <a:ext cx="10358120" cy="2758821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If · Switch · Filter · Edit Fields · Split Out · Aggregate · Merge · Loop · Date &amp; Time · Wait ·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the Data Goes — Storage &amp; App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Action nodes that write the result somewhere useful, or send it to a person.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Google Sheets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real spreadsheet you keep, connected with OAuth2. Append Row is the workhorse — Labs 2 and 4 log every decision 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Gmail / Outlook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Send a message — and in Lab 4, Send and Wait for Response, which turns email into an approval gate.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Vector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Store embeddings for RAG. In-memory for class, Pinecone / Supabase / Qdrant for production — Lab 5.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Respond to Webhook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Return data to whoever called the webhook, so a web page can render the agent's answer.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Anything you must keep goes to external storage — an in-memory store vanishes when n8n restarts.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JSON and Expressions — How Data 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node passes a list of items; each item is a JSON object of key/value pairs.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12064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JSON (JavaScript Object Notation) is a simple text format for data.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Values can be text, numbers, true/false, lists [ ] or nested objects { }.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Most APIs send and receive JSON — and so does every n8n node.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Click any node to inspect the JSON going in and coming 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74519"/>
            <a:ext cx="5193792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ONE FORM SUBMISSION AS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"Name": "Alice Tan",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"Email": "alice@corp.com",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"Phone": "91234567",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"Message": "Please reserve 2 seats"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any value later with an expression:  {{ $json.Name }}  →  "Alice Tan"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vs Production Executions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same workflow runs in two modes — always know which one you are looking 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TEST — in the editor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Click Execute workflow to run it once.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data is shown live on the canvas, node by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Pin a node's output to freeze it while you build downstream.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Perfect while building — nothing needs to be published.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PRODUCTION — after you click Publish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Runs automatically whenever the trigger fires.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Nothing appears on the canvas — runs are logged under Executions.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Every run records status, timing and the full data at each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This is what your users actually experience.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Executions list is the honest account of what happened — debug from there, not from memory.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execution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5371"/>
            <a:ext cx="10332720" cy="373877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1912671"/>
            <a:ext cx="10358120" cy="3764177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Executions tab — every run shows its status, duration, ID and the full data at each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Credentials — Connect Your Accounts Once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Nodes reference credentials by NAME. Set each one up once under Credentials → Add credential.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Gmail (OAuth2)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Sign in with Google and grant access. Used from Lab 1 onward for sending mail and for the Lab 4 approval gate.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Google Gemini (API key)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LLM behind every agent in this course, and the embedding model in Lab 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Google Sheets (OAuth2)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audit log in Labs 2 and 4 — customer records, decisions, drafts and approvals.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Google Drive (OAuth2)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brochure folder that Lab 5's ingestion workflow reads from.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Imported workflows carry credential NAMES, not secrets — always re-select your own after importing.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n8n AND AI AGENTS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Lab 1 — n8n Trigger and Action (Event Flyer with QR Code)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Your first n8n workflow: a form emails each sign-up to the administrator, then you publish it and put its QR code on an event flyer.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Form 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visitor submits the sign-up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Gmail — Send a message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administrator is emailed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Publish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copy the Production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QR code flyer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anyone scans to sign up</a:t>
            </a:r>
          </a:p>
        </p:txBody>
      </p:sp>
      <p:pic>
        <p:nvPicPr>
          <p:cNvPr id="18" name="Picture 17" descr="canvas-la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6" y="2798064"/>
            <a:ext cx="5904519" cy="270662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129516" y="2785364"/>
            <a:ext cx="5929919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Lab 1 workflow on the n8n canvas. Two nodes: the Form Trigger decides WHEN the workflow runs, and the Gmail node decides WHAT it does.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n8n Trigger and Action (Event Flyer with QR Code)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Form Trigger  →  Gmail (Send a message)  →  Publish  →  QR-code flyer  ·  full click-by-click steps in the Learner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1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n8n Trigger and Action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finished Lab 1 workflow on the n8n canvas — the Form Trigger fires on each submission and the Gmail node sends the details to the administrator.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 trigger decides when a workflow runs; an action decides what it does.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Expressions such as {{ $json.Name }} carry data from one node to the next.</a:t>
            </a:r>
          </a:p>
        </p:txBody>
      </p:sp>
      <p:pic>
        <p:nvPicPr>
          <p:cNvPr id="7" name="Picture 6" descr="site-la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96896"/>
            <a:ext cx="5486400" cy="23042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584196"/>
            <a:ext cx="5511800" cy="2329688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1 ·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Step 1: Add the n8n Form Trigger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b1-add-tri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611" y="1600200"/>
            <a:ext cx="5436489" cy="406907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65911" y="1587500"/>
            <a:ext cx="5461889" cy="4094479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1-form-trig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420" y="1600200"/>
            <a:ext cx="3920921" cy="4069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976720" y="1587500"/>
            <a:ext cx="3946321" cy="409448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06440"/>
            <a:ext cx="10634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Click Add first step (+), search 'form' and choose n8n Form → On new n8n Form event. Then add the Name, Email, Phone and Message fields.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1 ·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Step 2: Gmail — Send a Message with Expressions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b1-gmail-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1" y="1775445"/>
            <a:ext cx="2800121" cy="37185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4541" y="1762745"/>
            <a:ext cx="2825521" cy="3743988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1-gmail-exp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682" y="1775445"/>
            <a:ext cx="7560028" cy="371858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38982" y="1762745"/>
            <a:ext cx="7585428" cy="3743989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06440"/>
            <a:ext cx="10634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 Gmail → Send a message. Switch Message to Expression and drag in the form fields — the Result panel previews the email before you run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 1 ·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Step 3: Publish and Copy the Production URL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first: Execute workflow, submit the test form, check the email arrives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Click Publish (top right of the editor) — the workflow is now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Form Trigger node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Switch the form URL from Test URL to Production URL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Copy the Production URL — this is what the QR code will open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Test URL answers one submission while you watch; a PUBLISHED workflow's Production URL works for everyone.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 1 ·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Step 4: Create a Flyer with the QR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Paste the Production URL into alfredang.github.io/qrcodegenerator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the QR code as a 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Design the flyer — Canva, PowerPoint or an AI image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the QR code with a clear 'Scan to register' call-to-action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Present it — classmates scan, register, and the admin is emailed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two-node workflow is now a real sign-up channel: anyone with a phone can register by scanning your flyer.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1 · INSPIRATION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Flyers from Previous Learners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b1-flyer-learne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2" y="2349763"/>
            <a:ext cx="1712523" cy="256995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4542" y="2337063"/>
            <a:ext cx="1737923" cy="2595353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1-flyer-learne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4085" y="2349763"/>
            <a:ext cx="1817657" cy="25699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51385" y="2337063"/>
            <a:ext cx="1843057" cy="2595352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ab1-flyer-learner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062" y="2349763"/>
            <a:ext cx="1712523" cy="256995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843362" y="2337063"/>
            <a:ext cx="1737923" cy="2595353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ite-lab1-fly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2905" y="2349763"/>
            <a:ext cx="4568805" cy="256995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830205" y="2337063"/>
            <a:ext cx="4594205" cy="2595353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806440"/>
            <a:ext cx="10634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Each QR code encodes the form's Production URL — scan it, register, and the event administrator receives the details by email.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1 ·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Compare with the Reference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import-from-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164" y="1600200"/>
            <a:ext cx="7290624" cy="4069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36464" y="1587500"/>
            <a:ext cx="7316024" cy="409448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806440"/>
            <a:ext cx="10634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a NEW workflow, open the '...' menu → Import → From File and pick Lab 1 - Event Flyer with QR Code.json, so your own build is not overwritten.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1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n8n Trigger and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Scan the QR code on your flyer with your phone, submit the form, and confirm the administrator's inbox receives the email with the details you typed. A reference solution is provided as labs/lab1-trigger-actions/Lab 1 - Event Flyer with QR Code.json — build yours by hand first, then import it to compare.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Triggers and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trigger decides when a workflow runs; an action decides what it does.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Expressions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Expressions such as {{ $json.Name }} carry data from one node to the next.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Test vs Production 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Test URL works only while you are listening; the Production URL works once the workflow is published.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1 — you can now build an automated workflow in n8n using a trigger and an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Before Lab 2 — The Building Blocks of an AI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Lab 1 was a trigger and an action. Lab 2 adds an AI Agent that decides — these six blocks are what it is made 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hub that decides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3140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1468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2908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Model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LLM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Tools &amp; MCP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what it may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9924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1364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Instructions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rules it follows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Memory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what it remembers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0052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98380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89820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Webhook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how the world calls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What Lab 1 had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Form Trigger and a Gmail action. Every submission follows the same fixed path — no judgement anywhere.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What Lab 2 adds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AI Agent node with a model, three tools and the bank's rules, deciding APPROVED, REJECTED, REVIEW or DUPLICATE.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What changes at the front door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n8n form is replaced by a real bank website that POSTs to a Webhook and reads the decision back.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Learn the six blocks one at a time, then watch them work together in Lab 2.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Is an AI Agent? — The Agent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Given a goal, an agent does not answer once. It works in a loop until the goal is met.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goal, rules, memory,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Plan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decide the 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call a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Verify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check against the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Repeat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until done, then answer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1 ·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Everything the agent can see: the goal, its instructions, memory of the conversation, and what earlier tool calls returned.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0901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017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2 ·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017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LLM reasons over the context and chooses the next step — which tool to call, with what input, or whether it is finished.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078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3 ·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194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calls a tool: look up a record, write a row, send an email. This is where it acts on the world.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2550" y="3063240"/>
            <a:ext cx="243916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73718" y="3209544"/>
            <a:ext cx="203682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4 · Verify and repeat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3718" y="3611880"/>
            <a:ext cx="203682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tool's result goes back into the context and is checked against the goal. Not done? Plan again. Done? Reply.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Every turn of the loop is an LLM call — so cap it (Max Iterations on the AI Agent node) and log every step.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Components of an AI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Four parts around one hub: the AI Agent node wires them together, and every agent in this course is exactly these four.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063240"/>
            <a:ext cx="356616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3063240"/>
            <a:ext cx="3566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THE 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plans · decides · calls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02535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19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LLM 'brain' — interprets language, reasons and chooses the next step. Google Gemini in this course.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74519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02535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31719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Keeps the conversation so follow-up questions still make sense. Keyed on a session ID, per visitor.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60520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88536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1772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abilities it may use: look up a Sheets row, search a vector store, send an email, call an API.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4160520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4288536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INSTRUCTIONS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61772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system message — identity, scope, rules and refusals. Always in force, on every single turn.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Model + Memory + Tools + Instructions. Change any one of the four and you have a different 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Model — Popular LLM Providers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Any chat model plugs into the same AI Agent node. n8n lists each provider's live models — swap the brain, keep the agent.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74320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Provider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874519"/>
            <a:ext cx="402336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745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874519"/>
            <a:ext cx="386791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71816" y="18745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317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317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Google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331719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23317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Gemini 4 Argon · Gemini 3.8 Flash · Gemini 3.1 Pro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2331719"/>
            <a:ext cx="3867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71816" y="23317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Course default (Gemini Flash) — also supplies the embeddings in Lab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889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889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OpenAI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788919"/>
            <a:ext cx="40233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8456" y="27889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GPT-6 Astra · GPT-6.1 Sol · GPT-6 Luna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43800" y="2788919"/>
            <a:ext cx="386791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1816" y="27889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Newest family; GPT-5.x models remain in the 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461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461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Anthropic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246119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32461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Claude Opus 5.5 · Sonnet 5.5 · Haiku 5.5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3246119"/>
            <a:ext cx="3867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71816" y="32461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Strong reasoning and long context; Haiku is fast and cheap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33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33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Meta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3703319"/>
            <a:ext cx="40233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48456" y="37033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Llama 4 (Scout, Maverick)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3703319"/>
            <a:ext cx="386791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37033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 weights — can be self-hosted, e.g. with Ollama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605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60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Mistral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4160519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48456" y="41605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Mistral Large 4 · Mistral Medium 3.5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43800" y="4160519"/>
            <a:ext cx="3867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71816" y="41605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European option, with open-weight models too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Pick by task: small fast models for classification and guardrails, larger models for reasoning.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Model Parameters — Temperature and Friends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Settings on the chat-model node shape HOW the model answers. The most important by far is temperature.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49752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938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9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385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Temperature 0 – 0.3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31720"/>
            <a:ext cx="2947416" cy="117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Deterministic and repeatable. Use for classification, compliance decisions and data extraction — automation that must give the same answer twice.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83080"/>
            <a:ext cx="3349752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2938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29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385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Temperature ≈ 0.7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31720"/>
            <a:ext cx="2947416" cy="117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Balanced. Natural-sounding conversation with some variety — the usual default for a customer-facing assistant.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83080"/>
            <a:ext cx="3349752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2938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29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385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Temperature 1.0 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31720"/>
            <a:ext cx="2947416" cy="117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Creative and surprising. Marketing copy and brainstorming — never for a decision that must be defended.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58768"/>
            <a:ext cx="334975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400507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005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4014216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Top-p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407408"/>
            <a:ext cx="294741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alternative sampling control that limits the model to the most probable tokens. Tune temperature OR top-p, never both.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58768"/>
            <a:ext cx="334975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4005072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4005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4014216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Max tokens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407408"/>
            <a:ext cx="294741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Caps the length of the reply. Protects your cost and keeps chat answers short enough to read.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58768"/>
            <a:ext cx="334975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4005072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4005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4014216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Frequency / presence penalty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407408"/>
            <a:ext cx="294741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Discourage repetition and nudge the model onto new topics — useful for long generations, rarely for automation.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For business automation keep the temperature LOW — Lab 3 uses 0.2 so the same question is refused the same way every time.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FREE AI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Claim Your Free AI Credits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in to n8n Cloud with your training account — the free trial includes Gateway credits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a workflow and add an AI node, e.g. AI Agent → Gemini or OpenAI Chat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 the node's Credential field, choose Use Gateway credits — your balance shows beside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Pick a supported model and run the node — no provider account or API key needed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Track the balance on the node, or in Admin Panel → Gateway credits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red "Free AI credits — Enable to claim credits" toast is the legacy OpenAI offer: Gateway instances don't get it. Use Gateway credits.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Tools — What the Agent May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Attach tools to the agent's Tool input. The model decides WHEN to call one, based on the description you write.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Google Sheets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Look up or write structured records. Lab 2 attaches three: check for a duplicate, create the customer, send the confirmation.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Vector Store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Retrieve document chunks for a grounded answer — the Query Data Tool in Lab 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HTTP Request 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Call any external API in the middle of a conversation — prices, stock levels, a CRM record.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Sub-workflow 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Wrap an entire n8n workflow as one callable tool, so your own logic becomes something the agent can invoke.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tool DESCRIPTION is how the agent knows when to call it — write it for the model, not for a developer.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MCP — Model Context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open standard that gives agents a common plug for tools and data, instead of one custom integration per pair.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any MCP-capable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MCP Client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speaks the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MCP Server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exposes tools +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Your Systems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databases, APIs, 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517093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209544"/>
            <a:ext cx="47685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Without 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611880"/>
            <a:ext cx="476859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agent × every tool needs its own custom integration. N agents and M tools means N × M connectors to build and to maintain.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0780" y="3063240"/>
            <a:ext cx="517093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1948" y="3209544"/>
            <a:ext cx="47685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With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3611880"/>
            <a:ext cx="476859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Build ONE MCP server per system and any MCP-capable agent can use it. N + M pieces, and the tools become reusable across agents.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MCP is like USB-C for AI tools — one connector, many devices.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MCP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n8n sits on both sides of the protocol — it can serve tools to other agents, and borrow tools for its 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MCP SERVER TRIGGER — n8n serves tools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Expose your own n8n workflows AS tools over MCP.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Claude, an IDE or another agent can then call your workflows directly.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n8n becomes the tool layer for any MCP client.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Secured with a bearer token on the server URL.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MCP CLIENT TOOL — n8n consumes 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Attach an external MCP server to your n8n AI Agent.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agent gains all of that server's tools with no custom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Mix MCP tools and native n8n tools freely on the same agent.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Same agent loop — simply more reach.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Two directions, one protocol. Build the tool once and every agent you own can use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Instructions — The Four Parts That Constrain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system message is always in force. Every good agent instruction in this course states four things.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Who the agent is, and for whom. 'You are the onboarding assistant for Marina Trust Bank.' Narrow roles refuse far more reliably than general assistants.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Source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Where answers may come from. 'Answer ONLY from the brochures returned by the tool — never from general knowledge.'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Refusals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What is out of bounds, stated explicitly. 'Never recommend a product, predict a return, or guarantee an outcome.'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Escalation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What to do at the boundary. 'If you are not sure, say so and offer a consultation with a licensed adviser.'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Vague instructions produce confident wrong answers — every rule you skip, the model improvises.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Examples of Good and Bad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same chatbot, two system messages — one is testable, the other is a hope.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193792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62F2F"/>
                </a:solidFill>
                <a:latin typeface="Arial"/>
              </a:rPr>
              <a:t>✗  TOO VAGUE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95728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"You are a helpful assistant. Answer the user's questions politely."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identity · no source rules · no refusals · no escalation.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It will happily invent a price and guarantee an investment return — politely.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193792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7A3E"/>
                </a:solidFill>
                <a:latin typeface="Arial"/>
              </a:rPr>
              <a:t>✓  CONSTRAINED AND TESTABLE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95728"/>
            <a:ext cx="47091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"You are the enquiry assistant for Meridian Asset Management.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Answer only questions about our services, fees and appointment booking.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the brochure search tool for any factual question — never answer from general knowledge.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Never recommend a product, predict a return, or guarantee an outcome.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If you are not sure, say so and offer a call with a licensed adviser."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Identity · source rules · refusals · escalation — you can test each line by trying to break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Memory — Why the Agent Remembers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Without memory every message is from a stranger; with it, 'what about next month?' still makes sense.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Msg 1: 'What courses do you run?'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 answers from its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Stored in memory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keyed by session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Msg 2: 'How much is that one?'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 knows which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Window slides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only the last N turns are kept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Window buffer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Keeps the last N exchanges of THIS conversation. It is n8n's default and it is what Lab 3's chatbot uses.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Session 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Memory is per session ID, so two visitors on the same website never see each other's conversation.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Sometimes you want NO 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2's onboarding agent deliberately has none — one applicant's details must never influence the next decision.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Memory is conversation context, NOT long-term knowledge. Facts belong in tools and documents (RAG).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AI AGENT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Structured Output — Making an Agent's Answer Usable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By default an agent returns a paragraph of prose. Prose cannot be branched on, sorted, counted or coloured.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Attach an Output 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Structured Output Parser forces named fields instead of free text — Labs 2 and 4 both use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Name the fields you will act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2 returns decision, reason and riskFlags. The website colours its result card from decision alone.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Enumerate the allowed values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APPROVED / REJECTED / REVIEW / DUPLICATE. A closed list is what makes an IF node reliable.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Everything downstream depends on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IF node routes on it, a Sheets node logs it, and a queue is sorted by it. Prose supports none of that.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If something downstream must act on the answer, make the answer a field — not a sentence.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Is a Webhook?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URL your workflow listens on. When the outside world calls it, your workflow runs — the reverse of you calling an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Event happens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 visitor submits the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HTTP request to your URL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website POSTs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Workflow runs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n8n receives the data as its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Respond to Webhook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your reply returns to the caller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Push, not pull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 polling and no schedule — the caller notifies you the moment something happens.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Any caller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Websites, payment providers, forms, CRMs, mobile apps — anything that can send an HTTP request.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 paired node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Webhook node starts the workflow; Respond to Webhook sends the answer back on the same connection.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webhook is the reverse of an API call — the outside world calls YOU when an event happens.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Webhook Nodes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web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21" y="1737360"/>
            <a:ext cx="8823278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56421" y="1724660"/>
            <a:ext cx="8848678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Webhook node starts the workflow when it is called; Respond to Webhook returns data to the caller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Webhook vs HTTP Request — Which Way the Call Goes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Both are plain HTTP. The only difference is who dials.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WEBHOOK — inbound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An external service calls YOUR workflow.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 react the moment the event happens.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It is the TRIGGER — always the first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Labs 2–5: the lab website calls your agent.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HTTP REQUEST — outbound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YOUR workflow calls an external service.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 pull the data at a moment you choose.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It is an ACTION inside the workflow.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Use it to reach any API with no dedicated n8n node.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Same HTTP underneath — a webhook receives a call, an HTTP Request makes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HTTP Request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http-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515" y="1737360"/>
            <a:ext cx="10162489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86815" y="1724660"/>
            <a:ext cx="10187889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HTTP Request node calls out to any API — the outbound counterpart to an inbound webhook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HTTP Methods on a Webhook — GET vs POST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method is part of the contract with the caller: where the data rides, and what the call means.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GET —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data rides in the URL query string: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200">
                <a:solidFill>
                  <a:srgbClr val="161B26"/>
                </a:solidFill>
                <a:latin typeface="Arial"/>
              </a:rPr>
              <a:t>?email=alice@corp.com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 browser can call it just by visiting the URL.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Read it in n8n as {{ $json.query.email }}.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a dashboard pulling data to display.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POST — send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data rides in the request body as JSON: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200">
                <a:solidFill>
                  <a:srgbClr val="161B26"/>
                </a:solidFill>
                <a:latin typeface="Arial"/>
              </a:rPr>
              <a:t>{ "message": "How much is the course?" }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This is what a web form or a chat widget sends.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Read it in n8n as {{ $json.body.message }}.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Labs 2–5, where the site submits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GET reads, POST sends. Set the method on the Webhook node — and the caller must match it exactly.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Example: A GET Webhook That Publishes a Recipe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One URL, one agent, one page back. A webhook does not have to sit behind a form — opening a link can run an agent.</a:t>
            </a:r>
          </a:p>
        </p:txBody>
      </p:sp>
      <p:pic>
        <p:nvPicPr>
          <p:cNvPr id="7" name="Picture 6" descr="n8n-flow-recipe-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087" y="1783080"/>
            <a:ext cx="5138777" cy="2331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512387" y="1770380"/>
            <a:ext cx="5164177" cy="23571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439826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Webhook — 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Opening the URL in a browser is the request. Anything the agent needs can ride in the query string.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901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91890" y="439826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189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080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Recipe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017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An OpenAI chat model writes the recipe. There is no memory: each request stands alone.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439826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257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search_web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The agent calls search_web, passing a search query, when it needs facts from the web.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255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55430" y="439826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543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434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Page 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371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Publish Recipe Page (a Respond to Webhook node) returns the page, so the browser shows it at once.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GET suits a link anyone can click. Lab 2's bank form uses POST, because it sends a body of applicant data.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Webhook Test URL vs Production URL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Webhook node gives you TWO URLs. They behave differently, and confusing them is the single most common webhook bug.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TEST URL —  /webhook-test/…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Works only while you have clicked 'Listen for test event'.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Handles exactly ONE call, then stops listening.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run appears live on the canvas — ideal for debugging.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Dies the moment you leave the editor.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PRODUCTION URL —  /webhook/…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Requires the workflow to be published (Publish, top right).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Always on — every call starts a run.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Runs are logged under Executions, not drawn on the canvas.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This is the URL you give to a website, an app or a QR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Your website must call the PRODUCTION URL of a PUBLISHED workflow — the Test URL is spent after one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Configuring the Webhook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Four settings decide whether the browser's call actually succeeds.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Method +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GET or POST, and the path that ends your URL — for example POST /webhook/marina-trust-onboarding.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Allowed Origins (CORS)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Browsers block cross-site calls unless you allow them. Set * in class so a local HTML page can call n8n; never leave * in production.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Response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Immediately (a bare acknowledgement), when the workflow finishes, or via a Respond to Webhook node — every lab here uses the last 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Authentication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None for a classroom demo; Basic, Header or JWT for anything real. A public URL is a public door, and every call costs you model tokens.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'Failed to fetch' in the browser is almost always CORS or a dead Test URL — check those two first.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 2 · PUTTING 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Lab 2 — Webhook and AI Agent — How the Building Blocks 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Website → Webhook → AI Agent → Respond. Every block you have just learned has one job in this lab.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1031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Building block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828800"/>
            <a:ext cx="44805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08376" y="18288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In this lab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828800"/>
            <a:ext cx="4050791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88936" y="18288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8600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860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Webhook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2286000"/>
            <a:ext cx="4480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8376" y="22860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Onboarding Webhook — POST /marina-trust-onboarding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2286000"/>
            <a:ext cx="405079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936" y="22860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The bank website's front door; Respond to Website returns the decision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43200"/>
            <a:ext cx="21031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432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AI Agent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360" y="2743200"/>
            <a:ext cx="44805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08376" y="27432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Onboarding AI 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2743200"/>
            <a:ext cx="4050791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88936" y="27432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Applies the bank's onboarding rules and decides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0040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004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3200400"/>
            <a:ext cx="4480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08376" y="32004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Google Gemini Chat Model (Gateway credits)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3200400"/>
            <a:ext cx="405079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8936" y="32004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The LLM brain — keep the temperature low for repeatable decisions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57600"/>
            <a:ext cx="21031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576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Tools &amp; MCP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360" y="3657600"/>
            <a:ext cx="44805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08376" y="36576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check_duplicate_customer · create_customer_record · send_confirmation_email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60920" y="3657600"/>
            <a:ext cx="4050791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8936" y="36576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The agent chooses when to call each 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1480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148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Instructions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360" y="4114800"/>
            <a:ext cx="4480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08376" y="41148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System message: eligibility rules, age check, four decisions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20" y="4114800"/>
            <a:ext cx="405079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88936" y="41148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Where the bank's policy actually lives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572000"/>
            <a:ext cx="21031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5720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Memory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80360" y="4572000"/>
            <a:ext cx="44805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08376" y="45720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None — deliberately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60920" y="4572000"/>
            <a:ext cx="4050791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88936" y="45720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One applicant must never influence the next decision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02920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" y="5029200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80360" y="5029200"/>
            <a:ext cx="4480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08376" y="5029200"/>
            <a:ext cx="4224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Decision Parser — decision, reason, riskFlags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60920" y="5029200"/>
            <a:ext cx="405079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88936" y="5029200"/>
            <a:ext cx="37947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Lets the page colour the result card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Six building blocks, one workflow: the webhook brings the applicant in, the agent decides, the page shows the result.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n8n AND AI AGENTS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Lab 2 — Webhook and AI Agent (Marina Trust Bank Onboarding)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Replace the n8n form with a real bank website that POSTs to a webhook, where an AI Agent applies the bank's onboarding rules using three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Webhook —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bank site submits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Set node tidies the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+ 3 tools + 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Log Decision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Google Sheets audit 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Respond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decision returns to the page</a:t>
            </a:r>
          </a:p>
        </p:txBody>
      </p:sp>
      <p:pic>
        <p:nvPicPr>
          <p:cNvPr id="21" name="Picture 20" descr="canvas-la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949" y="2798064"/>
            <a:ext cx="8827054" cy="27066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668249" y="2785364"/>
            <a:ext cx="8852454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Lab 2 workflow on the n8n canvas. The main chain runs left to right; the chat model, output parser and three tools hang below the agent on its Tool input.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Webhook and AI Agent (Marina Trust Bank Onboarding)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Webhook  →  Normalise  →  AI Agent (+3 tools)  →  Log Decision  →  Respond to Website  ·  full click-by-click steps in the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 2 · THE WORKFLOW IN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— The Onboarding Workflow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imported workflow on the n8n canvas. The main chain runs left to right; the agent's model, tools and parser hang beneath it.</a:t>
            </a:r>
          </a:p>
        </p:txBody>
      </p:sp>
      <p:pic>
        <p:nvPicPr>
          <p:cNvPr id="7" name="Picture 6" descr="n8n-flow-la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744" y="1783080"/>
            <a:ext cx="6185464" cy="2331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989044" y="1770380"/>
            <a:ext cx="6210864" cy="23571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439826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Front door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The bank site POSTs to Onboarding Webhook; Normalise Application tidies the fields the agent reads.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901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91890" y="439826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189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080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The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017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Onboarding AI Agent applies the bank's rules with its chat model; Decision Parser returns decision, reason and riskFlags.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439826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257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Three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check_duplicate_customer, create_customer_record and send_confirmation_email — the agent chooses when to call each.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255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55430" y="439826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543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434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Log and respond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371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Log Decision appends an audit row to Google Sheets; Respond to Website sends the decision back to the page.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dashed lines are the agent's sub-nodes: it calls them when it decides to — the solid chain always runs in order.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2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— Webhook and AI Agent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Marina Trust Bank site the webhook sits behind. The applicant submits here, the AI Agent decides, and the page renders the decision as a coloured card.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 webhook lets any external system — your website, an app, a CRM — start an agent workflow.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Tools are what turn an LLM into an agent: it decides when to look up a customer and when to create one.</a:t>
            </a:r>
          </a:p>
        </p:txBody>
      </p:sp>
      <p:pic>
        <p:nvPicPr>
          <p:cNvPr id="7" name="Picture 6" descr="site-la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48890"/>
            <a:ext cx="5486400" cy="24003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536190"/>
            <a:ext cx="5511800" cy="24257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2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— Webhook and AI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Run TC1 (a new applicant) and confirm a green APPROVED card, a new row in the Customers sheet and a confirmation email. Then run TC2 (an already-seeded NRIC) and confirm an amber DUPLICATE card with no new 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Webhooks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webhook lets any external system — your website, an app, a CRM — start an agent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Tools make an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Tools are what turn an LLM into an agent: it decides when to look up a customer and when to create 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Structured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Structured output (decision, reason, riskFlags) is what lets downstream nodes branch, log and colour a result.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414223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The front door is separate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is unchanged from a form-triggered version — only the front door differs.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2 — you can now deploy an AI agent that is triggered by a webhook from an external website.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Agentic Chatbot and Human in the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379476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Agentic workflows · Chatbots on webhooks · Approval gates · Accountability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43434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Applied in Lab 3, 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AGENTIC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Rule-Based vs Agentic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 an agentic workflow the LLM makes the routing decisions. You still design the process, the guardrails and the tools.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RULE-BASED (RPA) — every branch wired by hand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Predictable: the same input always takes the same path.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Easy to audit — every decision is a rule you can read.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Breaks on anything you did not foresee.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Best for fixed, high-volume rules.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AGENTIC — the LLM chooses the path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Understands free text and intent.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Handles cases you did not foresee.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Needs guardrails and logging to stay safe.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Best for varied, language-driven work — like a chatbot.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What you hand over is the judgement about which path a case takes — never the design of the process.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AGENTIC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Designing a Safe Agentic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Six design rules that turn a helpful chatbot into one a regulated firm can put on its website. This is Lab 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Define the role narrowly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chatbot built for one job refuses far more reliably than a general assistant.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Write the prohibitions explicitly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Never recommend a product, predict a return or guarantee an outcome — spelled out, not implied.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29488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Add a fallback sentence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'When in doubt, say less and offer a consultation' does more compliance work than clever wording.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29488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Gate what must be collected 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 answer until the firm can contact the visitor — name, telephone and email.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63296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Keep a small FAQ in the prompt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Nine short answers a compliance officer can review in one sitting. RAG is for larger knowledge.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23660" y="4632960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257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Key memory on the session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194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Follow-up questions keep their context, and two visitors never see each other's conversation.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system message is a compliance control. Test it with the questions you most fear, not the ones you hope for.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Demo: An HR Policy Chatbot on Telegram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is a chatbot? An agent behind a chat channel. Build one on Telegram first — then Lab 3 puts one behind a website.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Telegram 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an employee messages the 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HR Agent — Ava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HR policies +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Chat model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Gateway credits, no API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09854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Reply on Telegram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back to the same chat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17520"/>
            <a:ext cx="3349752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16382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1638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1729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What Ava knows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566160"/>
            <a:ext cx="2947416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Sample HR policies written into the system instruction — leave, sick leave, claims, hours, probation.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3017520"/>
            <a:ext cx="3349752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31638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1638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392" y="31729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Guardrails in the 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0768" y="3566160"/>
            <a:ext cx="2947416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Answer only from the policies, never invent a number, and refer salary, medical or disciplinary questions to HR.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3017520"/>
            <a:ext cx="3349752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4840" y="316382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40" y="31638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3752" y="31729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Same agent, new front door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3566160"/>
            <a:ext cx="2947416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Telegram Trigger is the front door here. Lab 3 puts the same kind of agent behind a website.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You will: create a bot with BotFather  →  build the workflow with n8n Assistant  →  connect, publish and chat.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DEMO · TELEGRAM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Demo Step 1: Create a Telegram Bot with BotFather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 Telegram and search for BotFather (blue checkmark)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Start a chat and send /newbot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Type a display name, e.g. My Free Helper 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Choose a unique username ending in bot, e.g. my_free_helper_bot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Copy the HTTP API token BotFather sends 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token is the bot's password — never share or commit it. If it leaks, send /revoke to BotFather for a new one.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DEMO · n8n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Demo Step 2: Open n8n Assistant with Build with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8521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Create a new workflow. The empty canvas offers two starts: Add first step, or Build with AI.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Click Build with AI — this opens n8n Assistant, which builds the workflow from a plain-English prompt.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Add first step is the manual route: it opens the node search, here filtered to 'ai agent'.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Either way you get the same nodes. The Assistant just writes the first draft for you.</a:t>
            </a:r>
          </a:p>
        </p:txBody>
      </p:sp>
      <p:pic>
        <p:nvPicPr>
          <p:cNvPr id="7" name="Picture 6" descr="n8n-build-with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3501"/>
            <a:ext cx="4462272" cy="384819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36740" y="1720801"/>
            <a:ext cx="4487672" cy="3873598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Build with AI drafts the workflow; you still review every node before you publish.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DEMO · n8n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Demo Step 2: Paste the Prompt into n8n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Create a new workflow, open n8n Assistant and paste this prompt — it plans and builds the chatbot for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6583680" cy="3703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621792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 a 3-node workflow: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•  A user posts a message to a Telegram bot.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•  Telegram sends the data to an HR agent.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•  The HR agent responds to the user on the company HR policies. Create a system instruction for the HR agent with sample company policies in it. The HR agent has a memory.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•  Respond to Telegram.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828800"/>
            <a:ext cx="3822191" cy="3703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93852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THEN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286000"/>
            <a:ext cx="3429000" cy="3154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•  </a:t>
            </a:r>
            <a:r>
              <a:rPr sz="1250">
                <a:solidFill>
                  <a:srgbClr val="161B26"/>
                </a:solidFill>
                <a:latin typeface="Arial"/>
              </a:rPr>
              <a:t>Review the plan before it builds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•  </a:t>
            </a:r>
            <a:r>
              <a:rPr sz="1250">
                <a:solidFill>
                  <a:srgbClr val="161B26"/>
                </a:solidFill>
                <a:latin typeface="Arial"/>
              </a:rPr>
              <a:t>Read the system instruction it wrote — edit the sample policies if you like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•  </a:t>
            </a:r>
            <a:r>
              <a:rPr sz="1250">
                <a:solidFill>
                  <a:srgbClr val="161B26"/>
                </a:solidFill>
                <a:latin typeface="Arial"/>
              </a:rPr>
              <a:t>Check a memory node is attached to the HR agent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•  </a:t>
            </a:r>
            <a:r>
              <a:rPr sz="1250">
                <a:solidFill>
                  <a:srgbClr val="161B26"/>
                </a:solidFill>
                <a:latin typeface="Arial"/>
              </a:rPr>
              <a:t>Stuck? Import the reference solution instead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Reference solution: labs/lab3-chatbot-webhook/Lab 3 Demo - Telegram HR Policy Agent.json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DEMO · THE WORKFLOW IN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Demo: The Workflow n8n Assistant Builds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Your canvas should look like this: trigger, agent, reply — with the chat model and memory hanging under the agent.</a:t>
            </a:r>
          </a:p>
        </p:txBody>
      </p:sp>
      <p:pic>
        <p:nvPicPr>
          <p:cNvPr id="7" name="Picture 6" descr="n8n-flow-telegram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351" y="1783080"/>
            <a:ext cx="5256250" cy="2331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453651" y="1770380"/>
            <a:ext cx="5281650" cy="23571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439826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Telegram 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Updates: message — every message sent to the bot starts one execution.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901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91890" y="439826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189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080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HR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017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Ava's role, rules and sample HR policies live in the system instruction n8n Assistant wrote.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439826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257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Model and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Chat model on Gateway credits; memory keeps each employee's conversation, keyed on the Telegram chat ID.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255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55430" y="439826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543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434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Reply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371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Reply on Telegram sends back to the chat ID the trigger received, so the reply lands in the same chat.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Shown: the reference solution, which has no memory. Yours has a memory node — the prompt asked for one.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DEMO · TELEGRAM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Demo Step 3: Connect the Bot, Publish and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Telegram Trigger → Credential → Create new → paste the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Telegram reply node → select the same credential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Chat model → Use Gateway credits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Publish — n8n registers its webhook with Telegram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t.me/&lt;username&gt;, tap Start, ask about annual leave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Telegram bot has ONE webhook at a time — testing in the editor swaps in the Test URL, so publish again when you are done.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DEMO · TELEGRAM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Demo: Chatting with Ava on Telegram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8521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/start opens the chat — Ava introduces herself exactly as her system message tells her to.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Ask how many days of leave you get: the answer quotes the policy — 14, 18 or 21 days by length of service.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Ask a follow-up — memory keeps the context. Then ask about a colleague's salary: Ava must refer you to HR.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Every message is one workflow run — open Executions in n8n to watch it happen.</a:t>
            </a:r>
          </a:p>
        </p:txBody>
      </p:sp>
      <p:pic>
        <p:nvPicPr>
          <p:cNvPr id="7" name="Picture 6" descr="telegram-chat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203" y="1691640"/>
            <a:ext cx="3348745" cy="3931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3503" y="1678940"/>
            <a:ext cx="3374145" cy="39573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bot is only as safe as its system message. Lab 3 adds a contact gate and a refusal rule, behind a website.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AGENTIC CHATBOT &amp; HITL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— Chatbot Webhook (Investment Advisor)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compliance-bound chatbot for an investment advisory firm: no answer until the firm can contact the visitor, and never any financial advice.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Chat Webhook —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widget sends a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Normalize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Code node shapes the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Gemini 2.5 Flash, temp 0.2 +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Respond to Chat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reply returns to the widget</a:t>
            </a:r>
          </a:p>
        </p:txBody>
      </p:sp>
      <p:pic>
        <p:nvPicPr>
          <p:cNvPr id="18" name="Picture 17" descr="canvas-la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981" y="2798064"/>
            <a:ext cx="7730989" cy="270662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216281" y="2785364"/>
            <a:ext cx="7756389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Lab 3 workflow on the n8n canvas. A small graph: webhook in, normalise, the agent with its chat model and session memory, then the reply back out.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Chatbot Webhook (Investment Advisor)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Chat Webhook  →  Normalize  →  AI Agent (+ model + memory)  →  Respond to Chat  ·  full click-by-click steps in the Learner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 3 · THE WORKFLOW IN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— The Chatbot Workflow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imported workflow on the n8n canvas: webhook in, normalise, agent, shape the reply, respond. The intelligence is in the system message.</a:t>
            </a:r>
          </a:p>
        </p:txBody>
      </p:sp>
      <p:pic>
        <p:nvPicPr>
          <p:cNvPr id="7" name="Picture 6" descr="n8n-flow-la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575" y="1783080"/>
            <a:ext cx="6157802" cy="2331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002875" y="1770380"/>
            <a:ext cx="6183202" cy="23571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439826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Message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Chat Webhook receives each message from the widget; Normalize Chat Message shapes it for the agent.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901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91890" y="439826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189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080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The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017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Investment Advisor AI holds the contact gate, the non-advisory rule and the nine-question FAQ.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439826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257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Model and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Google Gemini Chat Model (temperature 0.2) and Website Chat Memory keyed on the visitor's sessionId.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255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55430" y="439826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543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434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Reply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371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Chat Response Body builds the JSON reply; Respond to Chat returns it to the widget.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warning on the Gemini node means no credential is selected yet — choosing your Gemini credential is the first fix after import.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3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— Chatbot Webhook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Investment Advisor site with the chat widget open. Note the contact gate in action — it asks for the visitor's name before it will answer anything.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An agentic chatbot's system message is a compliance control, not just a prompt.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same rule enforced in the browser and in the agent is deliberate redundancy — only one of them runs on a machine you control.</a:t>
            </a:r>
          </a:p>
        </p:txBody>
      </p:sp>
      <p:pic>
        <p:nvPicPr>
          <p:cNvPr id="7" name="Picture 6" descr="site-la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034540"/>
            <a:ext cx="5486400" cy="3429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021840"/>
            <a:ext cx="5511800" cy="34544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3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— Chatbot Webhook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Ask 'Can you guarantee returns?' and 'Which stock should I buy?'. The agent must decline both and offer a consultation. Then ask a question before giving your details — it must ask for the missing detail and answer nothing.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system 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agentic chatbot's system message is a compliance control, not just a prompt.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Defence in 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same rule enforced in the browser and in the agent is deliberate redundancy — only one of them runs on a machine you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Session-keyed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Session-keyed memory gives context to follow-up questions without leaking between visitors.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414223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Prompt or RAG?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small fixed FAQ belongs in the prompt; RAG is for knowledge too large or too changeable for that.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3 — you can now deploy an agentic chatbot on a website that operates within regulatory limits.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HUMAN IN THE LOOP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Human In, On, and Out of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Three levels of human oversight. The design question is which one this particular process deserves.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Human IN the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workflow PAUSES and a named person must approve before the action happens. Nothing reaches the customer unauthorised. This is Lab 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Human ON the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acts immediately, but a person monitors and can intervene or reverse it. Suited to high volume and low individual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Human OUT of the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Fully autonomous. Acceptable only where an error is cheap, reversible and detectable — never where money or a regulator is involved.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question is never 'is the model good enough?' but 'what does one bad output cost, and who answers for it?'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HUMAN IN THE LOOP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an Approval Suspends a Running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Send-and-Wait node stops the execution mid-flight and holds it until a person decides.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Event arrives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 client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Agent drafts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classify, flag, propose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Draft is logged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before any human sees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Human decides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Approve or Decline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Only then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send and log the outcome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execution really is paused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Look at the canvas and the run is sitting on the approval node. It waits days if it has to — n8n holds the state.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Approve and Decline are just links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email carries two URLs. Clicking one resumes the execution down that branch — no app for the approver to learn.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 decline is a reassignment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Declining is not deleting. The ticket moves to a named person, because someone still owes the client an answer.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agent may do everything except the one thing that matters. That pause is the whole control.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HUMAN IN THE LOOP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When to Put a Human in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Six tests. If a process meets any one of them, it needs an approval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Money moves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Payments, refunds, credit and lending decisions — anything with a direct financial consequence.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It is a regulated 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licensed firm writing to a client about their money, health or legal position.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294888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The action is irreversible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sent email, a deleted record or published content cannot be recalled.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29488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 person is vulnerable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Distress, illness, bereavement, or savings that someone cannot afford to lose.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632960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The stakes exceed the error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2% error rate is fine for tagging tickets and unacceptable for approving loans.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23660" y="4632960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257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Someone must be accountable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194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regulator asks which licensed person is answerable — not what the machine decided.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Automate the drafting, not the deciding, wherever any of these six is true.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HUMAN IN THE LOOP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Guardrails — Two Gates Around the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Instructions shape what the agent intends. Guardrails check what actually goes in and comes 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INPUT GUARDRAIL — before the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Screen the incoming message before the model ever sees it.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Block prompt injection: 'ignore your instructions and…'.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Strip or reject personal data you must not process.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Rate-limit and authenticate — a public webhook is a public door.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OUTPUT GUARDRAIL — after the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Check the reply before it reaches a human being.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Look for the phrases you have banned: guarantees, forecasts, advice.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Validate the structured fields against the values you allow.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On any doubt, route to a person rather than sending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Defence in depth: the same rule in the prompt AND in the workflow — only one of the two runs on a machine you control.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HUMAN IN THE LOOP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Guardrails in n8n — the Guardrails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two gates from the previous slide, built with n8n's Guardrails node: one before the agent, one after it.</a:t>
            </a:r>
          </a:p>
        </p:txBody>
      </p:sp>
      <p:pic>
        <p:nvPicPr>
          <p:cNvPr id="7" name="Picture 6" descr="n8n-guardrails-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228" y="1783080"/>
            <a:ext cx="4140495" cy="2331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011528" y="1770380"/>
            <a:ext cx="4165895" cy="23571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439826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Input guardrail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Guardrails · Check Text for Violations screens each message before the agent sees it, using its own chat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901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91890" y="439826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189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080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Pass or Fail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017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Pass continues to the agent. Fail branches away, so a blocked message never reaches the model.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439826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257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The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Rapport AI Agent drafts the reply with its Gemini model and the Draft Parser.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255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55430" y="439826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543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434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Output guardrail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371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Guardrails1 · Sanitize Text cleans the reply — for example removing personal data — before anything is sent.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Defence in depth: the prompt asks the agent to behave; the Guardrails nodes check that it did.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AGENTIC CHATBOT &amp; HITL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Human in the Loop (Client Rapport Assistant)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agent reads a worried client's concern, flags compliance risks and drafts a reply — but sends nothing until a licensed manager approves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Webhook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client sends a concern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classify · flag ·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Log Draft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before any human sees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RM Approval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Send &amp; Wait — PAUSED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IF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Approve → send · Decline → reassign</a:t>
            </a:r>
          </a:p>
        </p:txBody>
      </p:sp>
      <p:pic>
        <p:nvPicPr>
          <p:cNvPr id="21" name="Picture 20" descr="canvas-l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892" y="2798064"/>
            <a:ext cx="8759167" cy="27066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702192" y="2785364"/>
            <a:ext cx="8784567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Everything up to RM Approval is the agent's territory; the IF node after it splits into the approved path (top) and the reassignment path (bottom).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Human in the Loop (Client Rapport Assistant)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Webhook → Agent → Acknowledge → Log Draft → RM Approval (Send &amp; Wait) → IF → Send / Reassign  ·  full click-by-click steps in the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 4 · THE WORKFLOW IN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The Approval Workflow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imported workflow on the n8n canvas. Everything up to RM Approval is the agent's work; nothing after it runs until a person decides.</a:t>
            </a:r>
          </a:p>
        </p:txBody>
      </p:sp>
      <p:pic>
        <p:nvPicPr>
          <p:cNvPr id="7" name="Picture 6" descr="n8n-flow-l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039" y="1783080"/>
            <a:ext cx="7536873" cy="2331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313339" y="1770380"/>
            <a:ext cx="7562273" cy="23571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439826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Concern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Client Query Webhook receives the client's message; Normalise Query tidies it for the agent.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901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91890" y="439826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189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080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The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017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Rapport AI Agent drafts a non-advisory reply; Draft Parser returns tone, urgency and compliance flags.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439826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257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Log, then pause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Acknowledge Client answers at once, Log Draft records the draft, and RM Approval waits for a human.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2550" y="4251960"/>
            <a:ext cx="243916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55430" y="439826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5430" y="43982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4342" y="440740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Two paths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3718" y="4800600"/>
            <a:ext cx="203682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If Approved: send and log the reply. Otherwise: Assign to Human Agent and email that person.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RM Approval is a Gmail Send-and-Wait node: the execution genuinely pauses there until Approve or Decline is clicked.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4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Human in the Loop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Meridian client portal. The widget states plainly that a licensed manager reviews every reply — the human-in-the-loop promise made visible to the client.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 Send-and-Wait node pauses the workflow until a named person authorises the action.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Separating what the agent proposed from what a human approved is what makes the trail auditable.</a:t>
            </a:r>
          </a:p>
        </p:txBody>
      </p:sp>
      <p:pic>
        <p:nvPicPr>
          <p:cNvPr id="7" name="Picture 6" descr="site-l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65985"/>
            <a:ext cx="5486400" cy="316611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153285"/>
            <a:ext cx="5511800" cy="319151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4 ·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Step: Connect the Website and Send a Concern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b4-site-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316" y="1600200"/>
            <a:ext cx="6684320" cy="4069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39616" y="1587500"/>
            <a:ext cx="6709720" cy="409448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806440"/>
            <a:ext cx="10634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Paste your webhook Production URL into Lab configuration, pick a trainer demo query or type your own, use your own email, and send. The widget promises a licensed manager reviews every reply.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4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Human in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Run all eight rows of sample-queries.csv. When you are done Drafts has 8 rows, Approved_Replies has 5 and Handover_Queue has 3 — and no accountability column is empty.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approval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Send-and-Wait node pauses the workflow until a named person authorises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Two separate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Separating what the agent proposed from what a human approved is what makes the trail auditable.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 decline reassigns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decline is a reassignment, not a deletion — someone must still owe the client an answer.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414223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Keep the model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most legally important sentence in a workflow should be the one the model cannot touch.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4 — you can now apply a human approval gate so no AI-drafted communication is sent unsupervised.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Retrieval-Augmented Generation (RAG)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379476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Tokenization · Embeddings · Vector stores · Grounded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43434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Applied in 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Retrieval, Rather Than a Bigger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For twenty short documents, pasting them all would genuinely work. The problem starts at two hundred.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Prompts have a ceiling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Add enough documents and you exceed the model's context window — the request simply fails.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Long prompts degrade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Models attend less reliably to the middle of a very long context. The answer is in there and is still missed.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You pay for every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question re-sends every document, whether or not it was relevant to that question.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Retrieval turns it around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Fetch only the few documents that resemble the question, and send just those. Cheaper, shorter and more accurate.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RAG is not a bigger prompt — it is a smaller, better-chosen 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RAG Pipeline — Ingest Once, Retrieve Every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Two separate workflows. You run ingestion once; retrieval runs on every single question.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Collect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source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3140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1468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2908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Split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into chunks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Embed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each chunk into a 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9924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1364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Store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 the vector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Retrieve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nearest chunks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0052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98380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89820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Answer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from what came 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Ingestion — run by hand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5's first workflow: list 20 brochures on Drive, download, split, embed, insert. A Manual Trigger, run once.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Retrieval — runs per 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5's second workflow: embed the question with the SAME model, find the nearest brochures, answer only from those.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The models must match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question embedded by one model cannot be compared against documents embedded by another. It fails silently, returning nonsense.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Ingest once, retrieve thousands of times — and use the identical embedding model on both sides.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RAG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ag-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283" y="1737360"/>
            <a:ext cx="8002954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66583" y="1724660"/>
            <a:ext cx="8028354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Retrieval finds the documents that resemble the question · Augmentation adds them to the prompt · Generation produces an answer grounded in what was retrieved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Chunking — the Biggest Lever on RAG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Most RAG projects fail quietly at chunking, not at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The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right chunk is the smallest piece of text that still answers a question on its 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Too small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brochure sliced into thirds separates the course name from its fee. Retrieval then finds one without the other.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29488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Too large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Irrelevant text crowds the prompt and dilutes what actually matters.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29488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Overlap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small overlap between chunks stops a sentence being cut in half at the boundary.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63296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In Lab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Chunk size 4000 with overlap 0 — one brochure becomes exactly one vector, so the fee is never separated from the course.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23660" y="4632960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257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194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How many chunks come back. Too few misses the answer; too many dilutes the prompt with noise.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Tune the chunking before you blame the model — that is where the answer was lost.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Tokenization and Text Embedding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xt-embed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77750"/>
            <a:ext cx="10332720" cy="32340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2165050"/>
            <a:ext cx="10358120" cy="32594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Text is split into tokens, then an embedding model turns it into a vector — a list of numbers that places similar meanings close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Choosing a Vector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Where the embeddings live, and whether they are still there tomorrow.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SIMPLE VECTOR STORE — built 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No account, no API key, no index to create.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Running RAG within ten minutes — this is what Lab 5 uses.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WIPED whenever n8n restarts.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learning, demos and prototypes.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 REAL VECTOR DATABASE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Pinecone, Supabase (pgvector), Qdrant, Weaviate.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An account, an index and a matching dimension to set up.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Persists, scales, and is shared across n8n instances.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anything that goes into production.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Prototype on the in-memory store; move to a hosted database the moment anyone else depends on the answers.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Vector Databases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ector-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737360"/>
            <a:ext cx="73152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10460" y="1724660"/>
            <a:ext cx="7340600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vector store holds the embeddings and finds the nearest neighbours to a question,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Grounding an Agent Against Hallucination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ungrounded model asked for a price will produce one. It will be plausible, it will be wrong, and the customer will quote it back to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Always call the tool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Instruct the agent to search the documents before answering any factual question at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Answer only from what came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factual claim must trace to a retrieved document, not to the model's general knowledge.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294888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Give it permission to fail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'I don't have that in our course information' is a far better answer than a confident invention.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294888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Name what it must never invent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fee, a date, a duration, a course code, an instructor's name, a discount.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63296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Hide the machinery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Never mention the vector store or that it is searching documents — the customer does not care.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23660" y="4632960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257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Test the traps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194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Ask about a course you do not run, a person who does not exist, and a discount never offered.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Grounding is an instruction problem as much as a retrieval one — retrieval finds it, the prompt makes it stick.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 — Ingestion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Cook &amp; Bake Academy's customer care team retypes the same answers all day, and every answer is already written in the course brochures.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Manual 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you run ingestion 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Drive — list + download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 brochures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Splitter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 brochure = 1 chunk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Embeddings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3072-dim vectors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Vector Store — Insert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stored, ready to search</a:t>
            </a:r>
          </a:p>
        </p:txBody>
      </p:sp>
      <p:pic>
        <p:nvPicPr>
          <p:cNvPr id="21" name="Picture 20" descr="canvas-lab5-ing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721" y="2798064"/>
            <a:ext cx="7757510" cy="27066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203021" y="2785364"/>
            <a:ext cx="7782910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ingestion workflow on the n8n canvas — run ONCE by hand. Twenty brochures are listed, downloaded, split, embedded and inserted into the vector store.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RAG Customer Care Chatbot — Ingestion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Ingestion: Drive → Split → Embed → Vector Store   ·   Answering: Webhook → Agent + Retriever → Respond  ·  full click-by-click steps in the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 5 · THE WORKFLOW IN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The Ingestion Workflow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Part 1 as it looks after import. You run it once, by hand, to load all 20 brochures into the vector store.</a:t>
            </a:r>
          </a:p>
        </p:txBody>
      </p:sp>
      <p:pic>
        <p:nvPicPr>
          <p:cNvPr id="7" name="Picture 6" descr="n8n-flow-lab5-ing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80741"/>
            <a:ext cx="6172200" cy="364515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4540" y="1868041"/>
            <a:ext cx="6197600" cy="3670558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23760" y="1783080"/>
            <a:ext cx="4187952" cy="1182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88352" y="19110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88352" y="19110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911096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Fetch the brochures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76856"/>
            <a:ext cx="3822192" cy="615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When clicking 'Execute workflow' starts the run. List Brochures in Folder finds the 20 files in YOUR Drive folder, and Download Each Brochure pulls each one down.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112008"/>
            <a:ext cx="4187952" cy="1182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88352" y="3240024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8352" y="32400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240024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Split and embed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605784"/>
            <a:ext cx="3822192" cy="615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Default Data Loader reads each file, Whole-Brochure Splitter keeps one brochure as one chunk, and the Embeddings node turns every chunk into a vector.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4440936"/>
            <a:ext cx="4187952" cy="1182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88352" y="456895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52" y="456895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568952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Insert into the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934712"/>
            <a:ext cx="3822192" cy="615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Simple Vector Store (Insert) saves the 20 vectors under your memory key, cookbake_&lt;your-name&gt;. Clear Store is ON, so a re-run replaces instead of duplicating.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Ingestion is a batch job: re-run it when a brochure changes — and after every n8n restart.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 — Answering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answering workflow on the n8n canvas — runs on EVERY question. The Query Data Tool and its embedding model hang below the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Webhook —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 visitor asks 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+ Query Data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Retrieve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nearest brochures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Respond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answer grounded in those</a:t>
            </a:r>
          </a:p>
        </p:txBody>
      </p:sp>
      <p:pic>
        <p:nvPicPr>
          <p:cNvPr id="18" name="Picture 17" descr="canvas-lab5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162" y="2798064"/>
            <a:ext cx="7576628" cy="28529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293462" y="2785364"/>
            <a:ext cx="7602028" cy="2878328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RAG Customer Care Chatbot — Answering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Ingestion: Drive → Split → Embed → Vector Store   ·   Answering: Webhook → Agent + Retriever → Respond  ·  full click-by-click steps in the Learner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 5 · THE WORKFLOW IN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The Answering Workflow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Part 2 runs on every question. The agent must search the brochures before it is allowed to answer.</a:t>
            </a:r>
          </a:p>
        </p:txBody>
      </p:sp>
      <p:pic>
        <p:nvPicPr>
          <p:cNvPr id="7" name="Picture 6" descr="n8n-flow-lab5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32016"/>
            <a:ext cx="6172200" cy="374260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4540" y="1819316"/>
            <a:ext cx="6197600" cy="3768007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23760" y="1783080"/>
            <a:ext cx="4187952" cy="1182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88352" y="19110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88352" y="19110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911096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Question in, answer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76856"/>
            <a:ext cx="3822192" cy="615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Webhook receives the visitor's question from the website as a POST. Respond to Webhook sends the agent's reply back to the chat window.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112008"/>
            <a:ext cx="4187952" cy="1182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88352" y="3240024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8352" y="32400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240024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The agent and its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605784"/>
            <a:ext cx="3822192" cy="615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AI Agent reasons with the chat model. Its system message says: call the tool first and never invent a fee. No Memory is attached, so each question stands alone.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4440936"/>
            <a:ext cx="4187952" cy="1182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88352" y="456895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52" y="456895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568952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The retrieval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934712"/>
            <a:ext cx="3822192" cy="615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Query Data Tool searches YOUR memory key and returns the 5 closest brochures. Shown here with OpenAI; the lab file ships with Gemini — swap one, swap both.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Same embedding model and same memory key in both workflows — or retrieval silently finds nothing.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5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Cook &amp; Bake Academy site with the course assistant open. Every answer it gives is grounded in the 20 brochures you ingested into the vector store.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RAG retrieves the few documents that resemble the question instead of pasting everything into the prompt.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An embedding places similar meanings close together, so retrieval works even when no words match.</a:t>
            </a:r>
          </a:p>
        </p:txBody>
      </p:sp>
      <p:pic>
        <p:nvPicPr>
          <p:cNvPr id="7" name="Picture 6" descr="site-la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034540"/>
            <a:ext cx="5486400" cy="3429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021840"/>
            <a:ext cx="5511800" cy="34544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5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The Course Assistant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real conversation on the Cook &amp; Bake Academy site. Every fee in the reply came from a retrieved brochure.</a:t>
            </a:r>
          </a:p>
        </p:txBody>
      </p:sp>
      <p:pic>
        <p:nvPicPr>
          <p:cNvPr id="7" name="Picture 6" descr="lab5-site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97951"/>
            <a:ext cx="6172200" cy="36107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4540" y="1885251"/>
            <a:ext cx="6197600" cy="3636137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23760" y="1783080"/>
            <a:ext cx="4187952" cy="1182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88352" y="1911096"/>
            <a:ext cx="274320" cy="2743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88352" y="19110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911096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A typo still finds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76856"/>
            <a:ext cx="3822192" cy="615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The visitor typed 'patries'. Embeddings match meaning, not spelling, so the pastry brochures BAK-102 and BAK-109 still come 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112008"/>
            <a:ext cx="4187952" cy="1182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88352" y="3240024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8352" y="32400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240024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Facts quoted, not invented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605784"/>
            <a:ext cx="3822192" cy="615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Fees and durations are quoted exactly: BAK-102 is SGD $1480 for 8 weeks / 48 hours — the same S$1480 shown on the course card behind the chat.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4440936"/>
            <a:ext cx="4187952" cy="1182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88352" y="4568952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52" y="456895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568952"/>
            <a:ext cx="3474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Arial"/>
              </a:rPr>
              <a:t>It admits a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934712"/>
            <a:ext cx="3822192" cy="615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It did not give BAK-104's fee and said so instead of guessing. The brochure does list SGD $420, so check what the tool returned: that is a retrieval gap.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'I don't have that' is grounding working — fix gaps in retrieval, never by loosening the prompt.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5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TC1 must quote BAK-101's exact fee from the brochure. Then run the three hallucination probes: TC7 (a course that does not exist), TC8 (an instructor name no brochure contains) and TC9 (a discount that was never offered). Any confident answer to these is a failure, however fluent.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What RAG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RAG retrieves the few documents that resemble the question instead of pasting everything into the prompt.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embedding places similar meanings close together, so retrieval works even when no words match.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25952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57225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72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58140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Chunking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74592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Chunking is the single biggest lever on RAG quality — the right chunk answers a question on its own.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425952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57225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572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58140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Match model and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974592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ingestion and retrieval embedding models must be identical, and the memory keys must match.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565904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71220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71220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72135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In-memory is temporary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114544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n8n's Simple Vector Store is wiped when n8n restarts — fine for learning, unacceptable in production.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5 — you can now deploy a RAG application that grounds an agent in the organisation's own documents.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n8n and AI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 trigger-and-action workflow and explained how an LLM agent differs from generative AI.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Webhook-triggered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Put an AI agent behind a real website, with tools, structured output and an audit log.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Agentic chatbots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Designed a chatbot that collects contact details and refuses to give regulated advice.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Human in the loop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Paused a workflow on an approval gate so no drafted communication was sent unsupervised.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LO5 · RAG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Ingested 20 documents into a vector store and grounded a chatbot so it stopped inventing answers.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Taking This Back to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Six moves that turn what you built this week into something your organisation actually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Start with one painful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Pick something repetitive, high-volume and low-risk. Automate that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Map it before you build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Draw the trigger, the decisions and the actions on paper. The canvas comes second.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Decide where the human belongs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Anything irreversible, regulated or expensive keeps an approval gate.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9639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Ground the agent in your own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RAG over your policies and documents beats a general model every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9639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Log everything from day 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You will need the audit trail long before you think you will.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9639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Iterate with real cases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 with the questions you fear, not the ones you hope for.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next process you automate is the one you were dreading this morning.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WE'RE HERE TO HELP — DURING AND AFTER THE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Email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Telephone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Website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www.tertiarycourses.com.sg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LMS / TMS portal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Your Feedback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Tell us how it went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the course feedback form shared by your trainer.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What we use it for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comments shape the pacing, the labs and the depth of each topic.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Talk to your trainer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Raise anything during class — you do not have to wait for the form.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Stay in touch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Email enquiry@tertiaryinfotech.com with follow-up questions any time.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AUTOMATING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1148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Keep your n8n instance running and keep building. The next process you automate is the one you were dreading this morning.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Automate Business Processes with Agentic AI Workflows  ·  C209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